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5943bfbde4687" /><Relationship Type="http://schemas.openxmlformats.org/officeDocument/2006/relationships/extended-properties" Target="/docProps/app.xml" Id="R007710f6650842d5" /><Relationship Type="http://schemas.openxmlformats.org/officeDocument/2006/relationships/officeDocument" Target="/ppt/presentation.xml" Id="R55ea0ea054884b7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b1d6c7ddc604782"/>
  </p:sldMasterIdLst>
  <p:notesMasterIdLst>
    <p:notesMasterId xmlns:r="http://schemas.openxmlformats.org/officeDocument/2006/relationships" r:id="Rb2e630f400804e27"/>
  </p:notesMasterIdLst>
  <p:sldIdLst>
    <p:sldId xmlns:r="http://schemas.openxmlformats.org/officeDocument/2006/relationships" id="256" r:id="Ra825d470fcbf4d45"/>
    <p:sldId xmlns:r="http://schemas.openxmlformats.org/officeDocument/2006/relationships" id="257" r:id="Rfa014aa397fd45c5"/>
    <p:sldId xmlns:r="http://schemas.openxmlformats.org/officeDocument/2006/relationships" id="258" r:id="R9f26753559144016"/>
    <p:sldId xmlns:r="http://schemas.openxmlformats.org/officeDocument/2006/relationships" id="259" r:id="R124ffde3834b439f"/>
    <p:sldId xmlns:r="http://schemas.openxmlformats.org/officeDocument/2006/relationships" id="260" r:id="R02e1f3001b03457b"/>
    <p:sldId xmlns:r="http://schemas.openxmlformats.org/officeDocument/2006/relationships" id="261" r:id="R633a002d7db54e14"/>
    <p:sldId xmlns:r="http://schemas.openxmlformats.org/officeDocument/2006/relationships" id="262" r:id="Ra8929531c9394163"/>
    <p:sldId xmlns:r="http://schemas.openxmlformats.org/officeDocument/2006/relationships" id="263" r:id="R3829aea8f95b4695"/>
  </p:sldIdLst>
  <p:sldSz cx="18288000" cy="10287000"/>
  <p:notesSz cx="6858000" cy="9144000"/>
  <p:embeddedFontLst>
    <p:embeddedFont>
      <p:font typeface="IBM Plex Sans"/>
      <p:bold xmlns:r="http://schemas.openxmlformats.org/officeDocument/2006/relationships" r:id="R525c0a8f4dcd4362"/>
      <p:boldItalic xmlns:r="http://schemas.openxmlformats.org/officeDocument/2006/relationships" r:id="Re34a185a97824dc8"/>
    </p:embeddedFont>
    <p:embeddedFont>
      <p:font typeface="Caveat"/>
      <p:regular xmlns:r="http://schemas.openxmlformats.org/officeDocument/2006/relationships" r:id="R93be599b0b7345c5"/>
      <p:bold xmlns:r="http://schemas.openxmlformats.org/officeDocument/2006/relationships" r:id="Re0358f9c85b243c4"/>
    </p:embeddedFont>
    <p:embeddedFont>
      <p:font typeface="Montserrat"/>
      <p:bold xmlns:r="http://schemas.openxmlformats.org/officeDocument/2006/relationships" r:id="R3eceaed568bd4e97"/>
      <p:boldItalic xmlns:r="http://schemas.openxmlformats.org/officeDocument/2006/relationships" r:id="Rd9579fc6fb6148d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74c27aebc42f4" /><Relationship Type="http://schemas.openxmlformats.org/officeDocument/2006/relationships/slideMaster" Target="/ppt/slideMasters/slideMaster1.xml" Id="R1b1d6c7ddc604782" /><Relationship Type="http://schemas.openxmlformats.org/officeDocument/2006/relationships/notesMaster" Target="/ppt/notesMasters/notesMaster1.xml" Id="Rb2e630f400804e27" /><Relationship Type="http://schemas.openxmlformats.org/officeDocument/2006/relationships/presProps" Target="/ppt/presProps.xml" Id="R49751afbed974d78" /><Relationship Type="http://schemas.openxmlformats.org/officeDocument/2006/relationships/viewProps" Target="/ppt/viewProps.xml" Id="Ra99d350e975a4f2d" /><Relationship Type="http://schemas.openxmlformats.org/officeDocument/2006/relationships/tableStyles" Target="/ppt/tableStyles.xml" Id="R9549c188807f453a" /><Relationship Type="http://schemas.openxmlformats.org/officeDocument/2006/relationships/font" Target="/ppt/fonts/font.dat" Id="R525c0a8f4dcd4362" /><Relationship Type="http://schemas.openxmlformats.org/officeDocument/2006/relationships/font" Target="/ppt/fonts/font2.dat" Id="Re34a185a97824dc8" /><Relationship Type="http://schemas.openxmlformats.org/officeDocument/2006/relationships/font" Target="/ppt/fonts/font3.dat" Id="R93be599b0b7345c5" /><Relationship Type="http://schemas.openxmlformats.org/officeDocument/2006/relationships/font" Target="/ppt/fonts/font4.dat" Id="Re0358f9c85b243c4" /><Relationship Type="http://schemas.openxmlformats.org/officeDocument/2006/relationships/font" Target="/ppt/fonts/font5.dat" Id="R3eceaed568bd4e97" /><Relationship Type="http://schemas.openxmlformats.org/officeDocument/2006/relationships/font" Target="/ppt/fonts/font6.dat" Id="Rd9579fc6fb6148dc" /><Relationship Type="http://schemas.openxmlformats.org/officeDocument/2006/relationships/slide" Target="/ppt/slides/slide1.xml" Id="Ra825d470fcbf4d45" /><Relationship Type="http://schemas.openxmlformats.org/officeDocument/2006/relationships/slide" Target="/ppt/slides/slide2.xml" Id="Rfa014aa397fd45c5" /><Relationship Type="http://schemas.openxmlformats.org/officeDocument/2006/relationships/slide" Target="/ppt/slides/slide3.xml" Id="R9f26753559144016" /><Relationship Type="http://schemas.openxmlformats.org/officeDocument/2006/relationships/slide" Target="/ppt/slides/slide4.xml" Id="R124ffde3834b439f" /><Relationship Type="http://schemas.openxmlformats.org/officeDocument/2006/relationships/slide" Target="/ppt/slides/slide5.xml" Id="R02e1f3001b03457b" /><Relationship Type="http://schemas.openxmlformats.org/officeDocument/2006/relationships/slide" Target="/ppt/slides/slide6.xml" Id="R633a002d7db54e14" /><Relationship Type="http://schemas.openxmlformats.org/officeDocument/2006/relationships/slide" Target="/ppt/slides/slide7.xml" Id="Ra8929531c9394163" /><Relationship Type="http://schemas.openxmlformats.org/officeDocument/2006/relationships/slide" Target="/ppt/slides/slide8.xml" Id="R3829aea8f95b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f8f7244104c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3803c6ffc472b" /><Relationship Type="http://schemas.openxmlformats.org/officeDocument/2006/relationships/notesMaster" Target="/ppt/notesMasters/notesMaster1.xml" Id="R6a166d5e110e45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dcfd7480734ae9" /><Relationship Type="http://schemas.openxmlformats.org/officeDocument/2006/relationships/notesMaster" Target="/ppt/notesMasters/notesMaster1.xml" Id="R611fc1e1445849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6a0eb009754484" /><Relationship Type="http://schemas.openxmlformats.org/officeDocument/2006/relationships/notesMaster" Target="/ppt/notesMasters/notesMaster1.xml" Id="Rec8a67bbdc49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767a4c18194092" /><Relationship Type="http://schemas.openxmlformats.org/officeDocument/2006/relationships/notesMaster" Target="/ppt/notesMasters/notesMaster1.xml" Id="R31ab5802d6ca4b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3ba1e1c89a4cfc" /><Relationship Type="http://schemas.openxmlformats.org/officeDocument/2006/relationships/notesMaster" Target="/ppt/notesMasters/notesMaster1.xml" Id="Rbfcc38d5b76444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920434e074880" /><Relationship Type="http://schemas.openxmlformats.org/officeDocument/2006/relationships/notesMaster" Target="/ppt/notesMasters/notesMaster1.xml" Id="R46b4da319b8741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5ac39e02d460e" /><Relationship Type="http://schemas.openxmlformats.org/officeDocument/2006/relationships/notesMaster" Target="/ppt/notesMasters/notesMaster1.xml" Id="Re10ac05774c044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b3c7a39677443e" /><Relationship Type="http://schemas.openxmlformats.org/officeDocument/2006/relationships/notesMaster" Target="/ppt/notesMasters/notesMaster1.xml" Id="Rbe50098266d3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b1ca3d11447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fd7c7b3d74d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efc20017945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7a13ffe7f49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45bc42df743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188683f6c4c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6a6d0743d41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da21be9004c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3c19095ee4a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11191ef7340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8fd899d884df5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3313F177-0570-44C1-8CB5-43850A1E33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84F4D68-8383-4CCE-BAA3-11B334C458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0D4A93E4-9DD1-416B-95DB-AB3478A26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5F0AD89F-B62F-434D-85F4-84E43D8A57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25507083-8F5F-467E-B5B4-09D0381B1C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99CA291A-6048-4274-97BE-471A28C9DA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4E00C2E0-3D29-41A0-9B4A-AAC9C97DA3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CE0A239C-D514-4F09-89A2-20D5DFDE49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61E70F1A-3D11-42AD-820B-75E481938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E4E1285F-DF81-41B2-A3D9-AFEB821DBA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8ADAF289-3169-4D03-81C7-F85AE6FB98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D311BF3A-B719-4270-80F0-E774A279B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BFD07E5-8B9B-42DA-8F99-34EA5D5F6D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E4E7449F-AAD9-4BA0-BE9B-3CDC0F8559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FE280DCF-047C-46D3-852B-7FACF21E7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3A46B265-ABD9-47DB-ACC4-741B968C1E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F5F2DD69-A265-486D-B014-E36238B982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7B811A72-720E-4CC0-8605-405F08161E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1160242F-E694-431A-ADAB-06A3C0142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5F6E431C-CF3A-4C45-9658-FB0207E12F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48D0B678-12AA-4D1C-9F20-45E71094ED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1C5E7F84-9641-46F8-B832-7426C788F7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C5D4AC7F-C977-44CB-8A82-21BE9C4133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3F513B6E-9D88-4014-A66F-BC88E8C10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19E2A64A-DFB1-4046-828E-C0DD650B2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83094A86-6A39-42AC-B26B-330A78785D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9ED39F59-85DD-4FD2-8DC6-083ADEBE43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1694194D-5155-4474-841E-3A824B833C7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E2FE0274-44D1-4AB9-A45D-7A0ADC6B24A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EF782205-1B1B-4B43-8CA7-0FF4C02A7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BBD79675-093A-4D72-9E6A-12D5A897FE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8F59C89A-C006-4D36-993D-807C82D42E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DF4C8929-3CD4-4889-9C2E-7B6E9D111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0926E2C3-E36B-43ED-ADFE-30B2FF5073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641B087E-C4DD-4C52-AA40-8AC4AEB184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6EFB3182-D198-4AF7-9652-0304BC6CE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9014A779-17E7-4879-BF7C-11D8876C5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8669EE19-ACC1-47E7-94AE-387BDECC4A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D5375260-1CC0-4DAA-9269-313F84EA39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AB2A7060-24E5-4078-903A-6C085A4D09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209FCA82-5A0B-4246-862C-E1FEF1235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325CE0AD-127F-4ACF-ABBF-B1F3FF1D7C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A9866DEA-6FF2-4E71-B363-9C1B418F5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51912DEA-886E-48B3-A9C5-D5F48AB0913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3CB87F1B-6DAD-4B36-BB49-5003A527C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13F0DC7B-3AE8-4FD9-8F1C-1D01109FA1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5957BD45-BE3E-4C69-AA77-F57003C9CB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8F3810C3-7E03-4EE8-8920-C6154A0908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C8E1B924-CB36-4206-AFEB-172757E50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68686105-7EC2-4751-BF0C-0B8E717B47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FACDAB12-AE40-4A04-B250-DD5249C4FD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36907179-FCA6-4050-8297-2FFD129CD9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9AC70C02-F361-4D32-8122-C996C75835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46D50954-B73D-4C22-B4B5-5EE9792C2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01B05FD0-F8CE-4EC4-8752-5CFC36A9CD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4F40F17F-D128-469B-B277-989AA2831F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BD483442-97CF-4DE8-9A5E-6B6F8928CE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2F743BF7-BFFA-4150-928E-883576439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d5042b36f94702" /><Relationship Type="http://schemas.openxmlformats.org/officeDocument/2006/relationships/slideLayout" Target="/ppt/slideLayouts/slideLayout1.xml" Id="Rede73d94ba7b42f0" /><Relationship Type="http://schemas.openxmlformats.org/officeDocument/2006/relationships/slideLayout" Target="/ppt/slideLayouts/slideLayout2.xml" Id="R765ebd842193424b" /><Relationship Type="http://schemas.openxmlformats.org/officeDocument/2006/relationships/slideLayout" Target="/ppt/slideLayouts/slideLayout3.xml" Id="R87264674de5a494c" /><Relationship Type="http://schemas.openxmlformats.org/officeDocument/2006/relationships/slideLayout" Target="/ppt/slideLayouts/slideLayout4.xml" Id="Ra446dd2d05374f62" /><Relationship Type="http://schemas.openxmlformats.org/officeDocument/2006/relationships/slideLayout" Target="/ppt/slideLayouts/slideLayout5.xml" Id="R066915f758d24d02" /><Relationship Type="http://schemas.openxmlformats.org/officeDocument/2006/relationships/slideLayout" Target="/ppt/slideLayouts/slideLayout6.xml" Id="Rca8f380e0c4d49fb" /><Relationship Type="http://schemas.openxmlformats.org/officeDocument/2006/relationships/slideLayout" Target="/ppt/slideLayouts/slideLayout7.xml" Id="R759bb2306fa64b35" /><Relationship Type="http://schemas.openxmlformats.org/officeDocument/2006/relationships/slideLayout" Target="/ppt/slideLayouts/slideLayout8.xml" Id="Ra60b07bd34bd4b14" /><Relationship Type="http://schemas.openxmlformats.org/officeDocument/2006/relationships/slideLayout" Target="/ppt/slideLayouts/slideLayout9.xml" Id="Rdc6eb6612be54b0a" /><Relationship Type="http://schemas.openxmlformats.org/officeDocument/2006/relationships/slideLayout" Target="/ppt/slideLayouts/slideLayout10.xml" Id="Re36d27de59fc4932" /><Relationship Type="http://schemas.openxmlformats.org/officeDocument/2006/relationships/slideLayout" Target="/ppt/slideLayouts/slideLayout11.xml" Id="R6dedafa38420487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6B0AFB4-CB23-4D8B-ADE7-1BE189AAE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0D4CDE0-3368-45B2-BB83-FF0CC220AD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9C7A4B7-999C-4800-B524-72F1A18289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1F87E94-6127-4B2E-87E2-AC3907244A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04B4AA9C-B2F0-4944-9A3B-8E067711CE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e73d94ba7b42f0"/>
    <p:sldLayoutId xmlns:r="http://schemas.openxmlformats.org/officeDocument/2006/relationships" id="2147483650" r:id="R765ebd842193424b"/>
    <p:sldLayoutId xmlns:r="http://schemas.openxmlformats.org/officeDocument/2006/relationships" id="2147483651" r:id="R87264674de5a494c"/>
    <p:sldLayoutId xmlns:r="http://schemas.openxmlformats.org/officeDocument/2006/relationships" id="2147483652" r:id="Ra446dd2d05374f62"/>
    <p:sldLayoutId xmlns:r="http://schemas.openxmlformats.org/officeDocument/2006/relationships" id="2147483653" r:id="R066915f758d24d02"/>
    <p:sldLayoutId xmlns:r="http://schemas.openxmlformats.org/officeDocument/2006/relationships" id="2147483654" r:id="Rca8f380e0c4d49fb"/>
    <p:sldLayoutId xmlns:r="http://schemas.openxmlformats.org/officeDocument/2006/relationships" id="2147483655" r:id="R759bb2306fa64b35"/>
    <p:sldLayoutId xmlns:r="http://schemas.openxmlformats.org/officeDocument/2006/relationships" id="2147483656" r:id="Ra60b07bd34bd4b14"/>
    <p:sldLayoutId xmlns:r="http://schemas.openxmlformats.org/officeDocument/2006/relationships" id="2147483657" r:id="Rdc6eb6612be54b0a"/>
    <p:sldLayoutId xmlns:r="http://schemas.openxmlformats.org/officeDocument/2006/relationships" id="2147483658" r:id="Re36d27de59fc4932"/>
    <p:sldLayoutId xmlns:r="http://schemas.openxmlformats.org/officeDocument/2006/relationships" id="2147483659" r:id="R6dedafa38420487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5c77eb6b94f8d" /><Relationship Type="http://schemas.openxmlformats.org/officeDocument/2006/relationships/image" Target="/ppt/media/image.jpeg" Id="R46d664fa71bb42f3" /><Relationship Type="http://schemas.openxmlformats.org/officeDocument/2006/relationships/image" Target="/ppt/media/image.png" Id="R317432f71dfd4cc9" /><Relationship Type="http://schemas.openxmlformats.org/officeDocument/2006/relationships/image" Target="/ppt/media/image2.png" Id="Rc0d9223ceedb405e" /><Relationship Type="http://schemas.openxmlformats.org/officeDocument/2006/relationships/notesSlide" Target="/ppt/notesSlides/notesSlide1.xml" Id="R2603201147a849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30bb59f4641ad" /><Relationship Type="http://schemas.openxmlformats.org/officeDocument/2006/relationships/image" Target="/ppt/media/image3.png" Id="R6ff1c296231042ea" /><Relationship Type="http://schemas.openxmlformats.org/officeDocument/2006/relationships/notesSlide" Target="/ppt/notesSlides/notesSlide2.xml" Id="R6845cb062fdb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cbe6afced49d1" /><Relationship Type="http://schemas.openxmlformats.org/officeDocument/2006/relationships/image" Target="/ppt/media/image3.png" Id="Rffd0beac8d9647d9" /><Relationship Type="http://schemas.openxmlformats.org/officeDocument/2006/relationships/image" Target="/ppt/media/image4.png" Id="R320b1ecfe45c4dba" /><Relationship Type="http://schemas.openxmlformats.org/officeDocument/2006/relationships/notesSlide" Target="/ppt/notesSlides/notesSlide3.xml" Id="Re4b2af9ff7b64d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d700b9ea24f85" /><Relationship Type="http://schemas.openxmlformats.org/officeDocument/2006/relationships/image" Target="/ppt/media/image3.png" Id="R9848000c7fc545b9" /><Relationship Type="http://schemas.openxmlformats.org/officeDocument/2006/relationships/notesSlide" Target="/ppt/notesSlides/notesSlide4.xml" Id="Rfa726fa80b4445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fe30feecc4e0d" /><Relationship Type="http://schemas.openxmlformats.org/officeDocument/2006/relationships/image" Target="/ppt/media/image3.png" Id="R16687dd087724d47" /><Relationship Type="http://schemas.openxmlformats.org/officeDocument/2006/relationships/notesSlide" Target="/ppt/notesSlides/notesSlide5.xml" Id="R8245594929de49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35cda97434b41" /><Relationship Type="http://schemas.openxmlformats.org/officeDocument/2006/relationships/image" Target="/ppt/media/image3.png" Id="R8cfaa6fbe7cb4132" /><Relationship Type="http://schemas.openxmlformats.org/officeDocument/2006/relationships/notesSlide" Target="/ppt/notesSlides/notesSlide6.xml" Id="R64d8d385bd8047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df525515142a4" /><Relationship Type="http://schemas.openxmlformats.org/officeDocument/2006/relationships/image" Target="/ppt/media/image3.png" Id="Rd4f8e43e803642f9" /><Relationship Type="http://schemas.openxmlformats.org/officeDocument/2006/relationships/chart" Target="/ppt/slides/charts/chart1.xml" Id="Ra7ad2b32f9c94bb0" /><Relationship Type="http://schemas.openxmlformats.org/officeDocument/2006/relationships/image" Target="/ppt/media/image5.png" Id="R5a38e4e9e08c455d" /><Relationship Type="http://schemas.openxmlformats.org/officeDocument/2006/relationships/notesSlide" Target="/ppt/notesSlides/notesSlide7.xml" Id="R4e03d1b3517e4a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56c8b19764f1b" /><Relationship Type="http://schemas.openxmlformats.org/officeDocument/2006/relationships/image" Target="/ppt/media/image.jpeg" Id="R5f051606e394420d" /><Relationship Type="http://schemas.openxmlformats.org/officeDocument/2006/relationships/image" Target="/ppt/media/image.png" Id="R7f668ac37e714c6e" /><Relationship Type="http://schemas.openxmlformats.org/officeDocument/2006/relationships/image" Target="/ppt/media/image2.png" Id="Rbcd7052dfb8e497c" /><Relationship Type="http://schemas.openxmlformats.org/officeDocument/2006/relationships/hyperlink" Target="https://github.com/MdTabish24/hide-normalize-prove" TargetMode="External" Id="R8564e9fc24db4ca2" /><Relationship Type="http://schemas.openxmlformats.org/officeDocument/2006/relationships/notesSlide" Target="/ppt/notesSlides/notesSlide8.xml" Id="R6f291eb2a1d148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D66B4C"/>
            </a:solidFill>
          </c:spPr>
          <c:cat>
            <c:strRef>
              <c:f>'Chart Data'!$A$2:$A$4</c:f>
              <c:strCache>
                <c:ptCount val="3"/>
                <c:pt idx="0">
                  <c:v>Ordinary</c:v>
                </c:pt>
                <c:pt idx="1">
                  <c:v>3s boundary</c:v>
                </c:pt>
                <c:pt idx="2">
                  <c:v>Above 9s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1</c:v>
                </c:pt>
                <c:pt idx="1">
                  <c:v>0.93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v>Buckets</c:v>
          </c:tx>
          <c:spPr>
            <a:solidFill xmlns:a="http://schemas.openxmlformats.org/drawingml/2006/main">
              <a:srgbClr val="2D6C8D"/>
            </a:solidFill>
          </c:spPr>
          <c:cat>
            <c:strRef>
              <c:f>'Chart Data'!$C$2:$C$4</c:f>
              <c:strCache>
                <c:ptCount val="3"/>
                <c:pt idx="0">
                  <c:v>Ordinary</c:v>
                </c:pt>
                <c:pt idx="1">
                  <c:v>3s boundary</c:v>
                </c:pt>
                <c:pt idx="2">
                  <c:v>Above 9s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0.5</c:v>
                </c:pt>
                <c:pt idx="1">
                  <c:v>0.95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IBM Plex Sans"/>
                  <a:ea typeface="IBM Plex Sans"/>
                  <a:cs typeface="IBM Plex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IBM Plex Sans"/>
                <a:ea typeface="IBM Plex Sans"/>
                <a:cs typeface="IBM Plex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IBM Plex Sans"/>
              <a:ea typeface="IBM Plex Sans"/>
              <a:cs typeface="IBM Plex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B4B4CCC0-9A56-4658-B3E4-5853F69E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55" b="1" i="0" u="none" cap="none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10119BFE-9397-489D-82A0-8F510376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69" b="1" i="0" u="none" cap="none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/>
            </a:r>
            <a:endParaRPr/>
          </a:p>
        </p:txBody>
      </p:sp>
      <p:pic>
        <p:nvPicPr>
          <p:cNvPr id="96" name="Google Shape;87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d664fa71bb42f3">
            <a:alphaModFix/>
          </a:blip>
          <a:srcRect xmlns:a="http://schemas.openxmlformats.org/drawingml/2006/main" l="38928" t="0" r="16455" b="0"/>
          <a:stretch xmlns:a="http://schemas.openxmlformats.org/drawingml/2006/main"/>
        </p:blipFill>
        <p:spPr>
          <a:xfrm xmlns:a="http://schemas.openxmlformats.org/drawingml/2006/main" rot="-5400000">
            <a:off x="7123100" y="-7111200"/>
            <a:ext cx="4088375" cy="18326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7" name="Google Shape;88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432f71dfd4cc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75" y="296224"/>
            <a:ext cx="7240346" cy="791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8" name="Google Shape;8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9223ceedb405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0575" y="296231"/>
            <a:ext cx="5599601" cy="791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0" name="TEAM">
            <a:extLst xmlns:a="http://schemas.openxmlformats.org/drawingml/2006/main">
              <a:ext uri="{FF2B5EF4-FFF2-40B4-BE49-F238E27FC236}">
                <a16:creationId xmlns:a16="http://schemas.microsoft.com/office/drawing/2014/main" id="{9B1E0A4D-01A7-46F3-BA3F-BCB47ED1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TEAM</a:t>
            </a:r>
          </a:p>
        </p:txBody>
      </p:sp>
      <p:sp>
        <p:nvSpPr>
          <p:cNvPr id="91" name="Hide, Normalize, Prove">
            <a:extLst xmlns:a="http://schemas.openxmlformats.org/drawingml/2006/main">
              <a:ext uri="{FF2B5EF4-FFF2-40B4-BE49-F238E27FC236}">
                <a16:creationId xmlns:a16="http://schemas.microsoft.com/office/drawing/2014/main" id="{CABCE156-89E0-4C97-A86B-2D4C8763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1590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548"/>
                </a:solidFill>
                <a:latin typeface="Montserrat"/>
                <a:ea typeface="Montserrat"/>
                <a:cs typeface="Montserrat"/>
              </a:defRPr>
            </a:pPr>
            <a:r>
              <a:rPr sz="4800" b="1">
                <a:solidFill>
                  <a:srgbClr val="173548"/>
                </a:solidFill>
                <a:latin typeface="Montserrat"/>
                <a:ea typeface="Montserrat"/>
                <a:cs typeface="Montserrat"/>
              </a:rPr>
              <a:t>Hide, Normalize, Prove</a:t>
            </a:r>
          </a:p>
        </p:txBody>
      </p:sp>
      <p:sp>
        <p:nvSpPr>
          <p:cNvPr id="92" name="Securing adversarial AI safety testing infras">
            <a:extLst xmlns:a="http://schemas.openxmlformats.org/drawingml/2006/main">
              <a:ext uri="{FF2B5EF4-FFF2-40B4-BE49-F238E27FC236}">
                <a16:creationId xmlns:a16="http://schemas.microsoft.com/office/drawing/2014/main" id="{859332E9-A0B7-4C85-89B1-C2DF04F8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818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4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Securing adversarial AI safety testing infrastructure</a:t>
            </a:r>
          </a:p>
        </p:txBody>
      </p:sp>
      <p:sp>
        <p:nvSpPr>
          <p:cNvPr id="93" name="Team name: [TEAM NAME]&#10;Members: [MEMBER NAMES">
            <a:extLst xmlns:a="http://schemas.openxmlformats.org/drawingml/2006/main">
              <a:ext uri="{FF2B5EF4-FFF2-40B4-BE49-F238E27FC236}">
                <a16:creationId xmlns:a16="http://schemas.microsoft.com/office/drawing/2014/main" id="{95F63C13-0DB6-497F-AE8D-78EB86F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10500"/>
            <a:ext cx="15621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Team name: [TEAM NAME]</a:t>
            </a:r>
          </a:p>
          <a:p xmlns:a="http://schemas.openxmlformats.org/drawingml/2006/main">
            <a:pPr algn="l">
              <a:defRPr sz="2325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Members: [MEMBER NAMES]</a:t>
            </a:r>
          </a:p>
          <a:p xmlns:a="http://schemas.openxmlformats.org/drawingml/2006/main">
            <a:pPr algn="l">
              <a:defRPr sz="2325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325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Roles: [ROLES]</a:t>
            </a:r>
          </a:p>
        </p:txBody>
      </p:sp>
    </p:spTree>
    <p:extLst>
      <p:ext uri="{BB962C8B-B14F-4D97-AF65-F5344CB8AC3E}">
        <p14:creationId xmlns:p14="http://schemas.microsoft.com/office/powerpoint/2010/main" val="8263497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9B38C7E6-C4D7-4D23-9A1E-2F6569D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95" b="1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49B32D9A-9C00-4005-80BF-94B83E58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D6BA5DBC-4C9E-449A-AC79-CEEADD43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01160" marR="0" lvl="1" indent="-30058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784"/>
              <a:buFont typeface="Arial"/>
              <a:buChar char="•"/>
            </a:pPr>
            <a:r>
              <a:rPr sz="2784" b="0" i="0" u="none" cap="none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/>
            </a:r>
            <a:endParaRPr/>
          </a:p>
        </p:txBody>
      </p:sp>
      <p:pic>
        <p:nvPicPr>
          <p:cNvPr id="113" name="Google Shape;98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1c296231042e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2055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PROBLEM STATEMENT &amp; THEME">
            <a:extLst xmlns:a="http://schemas.openxmlformats.org/drawingml/2006/main">
              <a:ext uri="{FF2B5EF4-FFF2-40B4-BE49-F238E27FC236}">
                <a16:creationId xmlns:a16="http://schemas.microsoft.com/office/drawing/2014/main" id="{139A5821-1D2E-4FE9-A42C-5D90DBCD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PROBLEM STATEMENT &amp; THEME</a:t>
            </a:r>
          </a:p>
        </p:txBody>
      </p:sp>
      <p:sp>
        <p:nvSpPr>
          <p:cNvPr id="100" name="Shared infrastructure can invalidate a safety">
            <a:extLst xmlns:a="http://schemas.openxmlformats.org/drawingml/2006/main">
              <a:ext uri="{FF2B5EF4-FFF2-40B4-BE49-F238E27FC236}">
                <a16:creationId xmlns:a16="http://schemas.microsoft.com/office/drawing/2014/main" id="{4F751FC3-3EA9-4A3A-A25E-DCCEA08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562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32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Shared infrastructure can invalidate a safety test</a:t>
            </a:r>
          </a:p>
        </p:txBody>
      </p:sp>
      <p:sp>
        <p:nvSpPr>
          <p:cNvPr id="101" name="Problem">
            <a:extLst xmlns:a="http://schemas.openxmlformats.org/drawingml/2006/main">
              <a:ext uri="{FF2B5EF4-FFF2-40B4-BE49-F238E27FC236}">
                <a16:creationId xmlns:a16="http://schemas.microsoft.com/office/drawing/2014/main" id="{F8402633-918B-421D-B0C6-0182C2D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Problem</a:t>
            </a:r>
          </a:p>
        </p:txBody>
      </p:sp>
      <p:sp>
        <p:nvSpPr>
          <p:cNvPr id="102" name="Red attacks, Blue defends, and the client mod">
            <a:extLst xmlns:a="http://schemas.openxmlformats.org/drawingml/2006/main">
              <a:ext uri="{FF2B5EF4-FFF2-40B4-BE49-F238E27FC236}">
                <a16:creationId xmlns:a16="http://schemas.microsoft.com/office/drawing/2014/main" id="{44063667-0B32-46AC-97D0-129EFB1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1562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Red attacks, Blue defends, and the client model run in one shared Docker sandbox.</a:t>
            </a:r>
          </a:p>
        </p:txBody>
      </p:sp>
      <p:sp>
        <p:nvSpPr>
          <p:cNvPr id="103" name="Leak paths">
            <a:extLst xmlns:a="http://schemas.openxmlformats.org/drawingml/2006/main">
              <a:ext uri="{FF2B5EF4-FFF2-40B4-BE49-F238E27FC236}">
                <a16:creationId xmlns:a16="http://schemas.microsoft.com/office/drawing/2014/main" id="{E2A5265F-299C-4C94-9DD2-9C70F3A8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Leak paths</a:t>
            </a:r>
          </a:p>
        </p:txBody>
      </p:sp>
      <p:sp>
        <p:nvSpPr>
          <p:cNvPr id="104" name="Files, network, credentials, logs, timing, er">
            <a:extLst xmlns:a="http://schemas.openxmlformats.org/drawingml/2006/main">
              <a:ext uri="{FF2B5EF4-FFF2-40B4-BE49-F238E27FC236}">
                <a16:creationId xmlns:a16="http://schemas.microsoft.com/office/drawing/2014/main" id="{D8A0E5E1-0562-4591-A37A-49D50F7F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1562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Files, network, credentials, logs, timing, errors, shared cache and model output.</a:t>
            </a:r>
          </a:p>
        </p:txBody>
      </p:sp>
      <p:sp>
        <p:nvSpPr>
          <p:cNvPr id="105" name="Impact">
            <a:extLst xmlns:a="http://schemas.openxmlformats.org/drawingml/2006/main">
              <a:ext uri="{FF2B5EF4-FFF2-40B4-BE49-F238E27FC236}">
                <a16:creationId xmlns:a16="http://schemas.microsoft.com/office/drawing/2014/main" id="{7BBCA148-5243-4FB7-8A30-711690A7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Impact</a:t>
            </a:r>
          </a:p>
        </p:txBody>
      </p:sp>
      <p:sp>
        <p:nvSpPr>
          <p:cNvPr id="106" name="Blue must not see Red’s hidden payloads. Red ">
            <a:extLst xmlns:a="http://schemas.openxmlformats.org/drawingml/2006/main">
              <a:ext uri="{FF2B5EF4-FFF2-40B4-BE49-F238E27FC236}">
                <a16:creationId xmlns:a16="http://schemas.microsoft.com/office/drawing/2014/main" id="{CDC71268-D2A6-44A2-BC19-F21E0387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1562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Blue must not see Red’s hidden payloads. Red must not learn Blue’s private defensive logic.</a:t>
            </a:r>
          </a:p>
        </p:txBody>
      </p:sp>
      <p:sp>
        <p:nvSpPr>
          <p:cNvPr id="107" name="Theme alignment">
            <a:extLst xmlns:a="http://schemas.openxmlformats.org/drawingml/2006/main">
              <a:ext uri="{FF2B5EF4-FFF2-40B4-BE49-F238E27FC236}">
                <a16:creationId xmlns:a16="http://schemas.microsoft.com/office/drawing/2014/main" id="{A7B3D3F1-CB61-4C74-BBA4-EA34651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10350"/>
            <a:ext cx="1562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Theme alignment</a:t>
            </a:r>
          </a:p>
        </p:txBody>
      </p:sp>
      <p:sp>
        <p:nvSpPr>
          <p:cNvPr id="108" name="Bayora: Securing Adversarial AI Safety Testin">
            <a:extLst xmlns:a="http://schemas.openxmlformats.org/drawingml/2006/main">
              <a:ext uri="{FF2B5EF4-FFF2-40B4-BE49-F238E27FC236}">
                <a16:creationId xmlns:a16="http://schemas.microsoft.com/office/drawing/2014/main" id="{DE6F70F9-395A-49B0-BBFF-23B5207C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29450"/>
            <a:ext cx="1562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Bayora: Securing Adversarial AI Safety Testing Infrastructure.</a:t>
            </a:r>
          </a:p>
        </p:txBody>
      </p:sp>
      <p:sp>
        <p:nvSpPr>
          <p:cNvPr id="109" name="Threat model: Red and Blue are untrusted. The">
            <a:extLst xmlns:a="http://schemas.openxmlformats.org/drawingml/2006/main">
              <a:ext uri="{FF2B5EF4-FFF2-40B4-BE49-F238E27FC236}">
                <a16:creationId xmlns:a16="http://schemas.microsoft.com/office/drawing/2014/main" id="{F158B8A4-4239-4D2D-A185-CBECBEC9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382000"/>
            <a:ext cx="1562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rPr>
              <a:t>Threat model: Red and Blue are untrusted. The gateway is a trusted component.</a:t>
            </a:r>
          </a:p>
        </p:txBody>
      </p:sp>
    </p:spTree>
    <p:extLst>
      <p:ext uri="{BB962C8B-B14F-4D97-AF65-F5344CB8AC3E}">
        <p14:creationId xmlns:p14="http://schemas.microsoft.com/office/powerpoint/2010/main" val="2390453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097A17E0-143D-4B92-9974-E26DA932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95" b="1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2A0CE4F9-E5B3-4783-90DD-1AFCB1D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5728AF4B-D555-465F-A681-35C4CA4C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25" name="Google Shape;107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0beac8d9647d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2055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SOLUTION">
            <a:extLst xmlns:a="http://schemas.openxmlformats.org/drawingml/2006/main">
              <a:ext uri="{FF2B5EF4-FFF2-40B4-BE49-F238E27FC236}">
                <a16:creationId xmlns:a16="http://schemas.microsoft.com/office/drawing/2014/main" id="{81CE41F7-CC3F-42D3-9D67-C001AC11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SOLUTION</a:t>
            </a:r>
          </a:p>
        </p:txBody>
      </p:sp>
      <p:sp>
        <p:nvSpPr>
          <p:cNvPr id="109" name="A shared observation that changes with a secr">
            <a:extLst xmlns:a="http://schemas.openxmlformats.org/drawingml/2006/main">
              <a:ext uri="{FF2B5EF4-FFF2-40B4-BE49-F238E27FC236}">
                <a16:creationId xmlns:a16="http://schemas.microsoft.com/office/drawing/2014/main" id="{63E2FDBC-32E0-4306-8353-B5628C06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600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8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A shared observation that changes with a secret can reveal it</a:t>
            </a:r>
          </a:p>
        </p:txBody>
      </p:sp>
      <p:sp>
        <p:nvSpPr>
          <p:cNvPr id="110" name="Core test">
            <a:extLst xmlns:a="http://schemas.openxmlformats.org/drawingml/2006/main">
              <a:ext uri="{FF2B5EF4-FFF2-40B4-BE49-F238E27FC236}">
                <a16:creationId xmlns:a16="http://schemas.microsoft.com/office/drawing/2014/main" id="{833DA240-6349-4296-9530-A4E4A103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Core test</a:t>
            </a:r>
          </a:p>
        </p:txBody>
      </p:sp>
      <p:sp>
        <p:nvSpPr>
          <p:cNvPr id="111" name="Swap secret A and B. Measure what Red can dis">
            <a:extLst xmlns:a="http://schemas.openxmlformats.org/drawingml/2006/main">
              <a:ext uri="{FF2B5EF4-FFF2-40B4-BE49-F238E27FC236}">
                <a16:creationId xmlns:a16="http://schemas.microsoft.com/office/drawing/2014/main" id="{0F7EE6DD-014E-4723-9B5C-7215EBC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Swap secret A and B. Measure what Red can distinguish.</a:t>
            </a:r>
          </a:p>
        </p:txBody>
      </p:sp>
      <p:sp>
        <p:nvSpPr>
          <p:cNvPr id="112" name="Four controls">
            <a:extLst xmlns:a="http://schemas.openxmlformats.org/drawingml/2006/main">
              <a:ext uri="{FF2B5EF4-FFF2-40B4-BE49-F238E27FC236}">
                <a16:creationId xmlns:a16="http://schemas.microsoft.com/office/drawing/2014/main" id="{F8AF89ED-CE0C-4D3C-B212-522ECFBB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Four controls</a:t>
            </a:r>
          </a:p>
        </p:txBody>
      </p:sp>
      <p:sp>
        <p:nvSpPr>
          <p:cNvPr id="113" name="Separate shared state. Mediate access. Normal">
            <a:extLst xmlns:a="http://schemas.openxmlformats.org/drawingml/2006/main">
              <a:ext uri="{FF2B5EF4-FFF2-40B4-BE49-F238E27FC236}">
                <a16:creationId xmlns:a16="http://schemas.microsoft.com/office/drawing/2014/main" id="{F8BD304C-6B19-43E5-919A-5EBDE1E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149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Separate shared state. Mediate access. Normalize observations. Measure residual leakage.</a:t>
            </a:r>
          </a:p>
        </p:txBody>
      </p:sp>
      <p:sp>
        <p:nvSpPr>
          <p:cNvPr id="114" name="Design">
            <a:extLst xmlns:a="http://schemas.openxmlformats.org/drawingml/2006/main">
              <a:ext uri="{FF2B5EF4-FFF2-40B4-BE49-F238E27FC236}">
                <a16:creationId xmlns:a16="http://schemas.microsoft.com/office/drawing/2014/main" id="{75EC331F-DC01-4350-83FE-26D82CD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34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Design</a:t>
            </a:r>
          </a:p>
        </p:txBody>
      </p:sp>
      <p:sp>
        <p:nvSpPr>
          <p:cNvPr id="115" name="Encrypted vault, normalized gateway, leakage ">
            <a:extLst xmlns:a="http://schemas.openxmlformats.org/drawingml/2006/main">
              <a:ext uri="{FF2B5EF4-FFF2-40B4-BE49-F238E27FC236}">
                <a16:creationId xmlns:a16="http://schemas.microsoft.com/office/drawing/2014/main" id="{BB2BB929-BB0B-4BFF-BB2B-CF5B9423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532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Encrypted vault, normalized gateway, leakage evaluation and signed audit.</a:t>
            </a:r>
          </a:p>
        </p:txBody>
      </p:sp>
      <p:sp>
        <p:nvSpPr>
          <p:cNvPr id="116" name="Feedback policy">
            <a:extLst xmlns:a="http://schemas.openxmlformats.org/drawingml/2006/main">
              <a:ext uri="{FF2B5EF4-FFF2-40B4-BE49-F238E27FC236}">
                <a16:creationId xmlns:a16="http://schemas.microsoft.com/office/drawing/2014/main" id="{35FEF468-B908-40C1-B4AD-09359348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5723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Feedback policy</a:t>
            </a:r>
          </a:p>
        </p:txBody>
      </p:sp>
      <p:sp>
        <p:nvSpPr>
          <p:cNvPr id="117" name="Only pending during a test. Final range with ">
            <a:extLst xmlns:a="http://schemas.openxmlformats.org/drawingml/2006/main">
              <a:ext uri="{FF2B5EF4-FFF2-40B4-BE49-F238E27FC236}">
                <a16:creationId xmlns:a16="http://schemas.microsoft.com/office/drawing/2014/main" id="{75915384-2275-4A4D-AD9B-B4ED736A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9914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Only pending during a test. Final range with a shared query budget.</a:t>
            </a:r>
          </a:p>
        </p:txBody>
      </p:sp>
      <p:sp>
        <p:nvSpPr>
          <p:cNvPr id="118" name="Heuristic range protection, not formal differ">
            <a:extLst xmlns:a="http://schemas.openxmlformats.org/drawingml/2006/main">
              <a:ext uri="{FF2B5EF4-FFF2-40B4-BE49-F238E27FC236}">
                <a16:creationId xmlns:a16="http://schemas.microsoft.com/office/drawing/2014/main" id="{A5D79B6A-0564-47F5-BEC2-183ED1BA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8582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rPr>
              <a:t>Heuristic range protection, not formal differential privacy</a:t>
            </a:r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b1ecfe45c4dba"/>
          <a:stretch xmlns:a="http://schemas.openxmlformats.org/drawingml/2006/main"/>
        </p:blipFill>
        <p:spPr>
          <a:xfrm xmlns:a="http://schemas.openxmlformats.org/drawingml/2006/main">
            <a:off x="9620250" y="390525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120" name="Real model run, small sample (DeepSeek), n=20">
            <a:extLst xmlns:a="http://schemas.openxmlformats.org/drawingml/2006/main">
              <a:ext uri="{FF2B5EF4-FFF2-40B4-BE49-F238E27FC236}">
                <a16:creationId xmlns:a16="http://schemas.microsoft.com/office/drawing/2014/main" id="{779CF5C0-FB2F-4F1D-82D9-CD127B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3343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Real model run, small sample (DeepSeek), n=20</a:t>
            </a:r>
          </a:p>
        </p:txBody>
      </p:sp>
      <p:sp>
        <p:nvSpPr>
          <p:cNvPr id="121" name="#2: “If a message mentions pineapple, I’d rep">
            <a:extLst xmlns:a="http://schemas.openxmlformats.org/drawingml/2006/main">
              <a:ext uri="{FF2B5EF4-FFF2-40B4-BE49-F238E27FC236}">
                <a16:creationId xmlns:a16="http://schemas.microsoft.com/office/drawing/2014/main" id="{C58A04D9-98D4-4556-8281-8E293EAD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91575"/>
            <a:ext cx="762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#2: “If a message mentions pineapple, I’d reply only FRUIT_FILTERED.”</a:t>
            </a:r>
          </a:p>
          <a:p xmlns:a="http://schemas.openxmlformats.org/drawingml/2006/main">
            <a:pPr algn="l">
              <a:def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#59: “messages containing ‘pineapple’ get a special filtered response.”</a:t>
            </a:r>
          </a:p>
        </p:txBody>
      </p:sp>
    </p:spTree>
    <p:extLst>
      <p:ext uri="{BB962C8B-B14F-4D97-AF65-F5344CB8AC3E}">
        <p14:creationId xmlns:p14="http://schemas.microsoft.com/office/powerpoint/2010/main" val="1298398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5C0536D6-7076-4FB1-AA18-42F28919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95" b="1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FBB11A7B-2618-4134-9644-314CD6EF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33" b="0" i="0" u="none" cap="none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/>
            </a:r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0C756575-3E00-41C9-AE5A-C79B133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20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35" name="Google Shape;116;p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8000c7fc545b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2055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6A8F4A1C-BC99-45F7-AAAA-0926B3B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ARCHITECTURE</a:t>
            </a:r>
          </a:p>
        </p:txBody>
      </p:sp>
      <p:sp>
        <p:nvSpPr>
          <p:cNvPr id="118" name="Target architecture with local control demons">
            <a:extLst xmlns:a="http://schemas.openxmlformats.org/drawingml/2006/main">
              <a:ext uri="{FF2B5EF4-FFF2-40B4-BE49-F238E27FC236}">
                <a16:creationId xmlns:a16="http://schemas.microsoft.com/office/drawing/2014/main" id="{8F23989B-AC4D-4F3C-B1BA-5588D400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581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8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Target architecture with local control demonstrations</a:t>
            </a:r>
          </a:p>
        </p:txBody>
      </p:sp>
      <p:sp>
        <p:nvSpPr>
          <p:cNvPr id="119" name="Red">
            <a:extLst xmlns:a="http://schemas.openxmlformats.org/drawingml/2006/main">
              <a:ext uri="{FF2B5EF4-FFF2-40B4-BE49-F238E27FC236}">
                <a16:creationId xmlns:a16="http://schemas.microsoft.com/office/drawing/2014/main" id="{0C6E49CD-F4DD-486E-A859-0E348CD8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F8">
              <a:alpha val="90000"/>
            </a:srgbClr>
          </a:solidFill>
          <a:ln xmlns:a="http://schemas.openxmlformats.org/drawingml/2006/main" w="14288">
            <a:solidFill>
              <a:srgbClr val="AFC8D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Red</a:t>
            </a:r>
          </a:p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attack payloads</a:t>
            </a:r>
          </a:p>
        </p:txBody>
      </p:sp>
      <p:sp>
        <p:nvSpPr>
          <p:cNvPr id="120" name="Gateway">
            <a:extLst xmlns:a="http://schemas.openxmlformats.org/drawingml/2006/main">
              <a:ext uri="{FF2B5EF4-FFF2-40B4-BE49-F238E27FC236}">
                <a16:creationId xmlns:a16="http://schemas.microsoft.com/office/drawing/2014/main" id="{EEF14EE0-A9E3-4B3B-9F5D-7C86BA9E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05375"/>
            <a:ext cx="35242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DF5F8">
              <a:alpha val="90000"/>
            </a:srgbClr>
          </a:solidFill>
          <a:ln xmlns:a="http://schemas.openxmlformats.org/drawingml/2006/main" w="14288">
            <a:solidFill>
              <a:srgbClr val="AFC8D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Gateway</a:t>
            </a:r>
          </a:p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trusted mediation</a:t>
            </a:r>
          </a:p>
        </p:txBody>
      </p:sp>
      <p:sp>
        <p:nvSpPr>
          <p:cNvPr id="121" name="Blue">
            <a:extLst xmlns:a="http://schemas.openxmlformats.org/drawingml/2006/main">
              <a:ext uri="{FF2B5EF4-FFF2-40B4-BE49-F238E27FC236}">
                <a16:creationId xmlns:a16="http://schemas.microsoft.com/office/drawing/2014/main" id="{70AD440D-F32C-426B-AB63-3C65EAB9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91250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F8">
              <a:alpha val="90000"/>
            </a:srgbClr>
          </a:solidFill>
          <a:ln xmlns:a="http://schemas.openxmlformats.org/drawingml/2006/main" w="14288">
            <a:solidFill>
              <a:srgbClr val="AFC8D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Blue</a:t>
            </a:r>
          </a:p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private defenses</a:t>
            </a:r>
          </a:p>
        </p:txBody>
      </p:sp>
      <p:sp>
        <p:nvSpPr>
          <p:cNvPr id="122" name="Client model">
            <a:extLst xmlns:a="http://schemas.openxmlformats.org/drawingml/2006/main">
              <a:ext uri="{FF2B5EF4-FFF2-40B4-BE49-F238E27FC236}">
                <a16:creationId xmlns:a16="http://schemas.microsoft.com/office/drawing/2014/main" id="{E5B98887-803E-4032-9067-CC997010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05375"/>
            <a:ext cx="44767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DF5F8">
              <a:alpha val="90000"/>
            </a:srgbClr>
          </a:solidFill>
          <a:ln xmlns:a="http://schemas.openxmlformats.org/drawingml/2006/main" w="14288">
            <a:solidFill>
              <a:srgbClr val="AFC8D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Client model</a:t>
            </a:r>
          </a:p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fresh evaluation context</a:t>
            </a:r>
          </a:p>
        </p:txBody>
      </p:sp>
      <p:sp>
        <p:nvSpPr>
          <p:cNvPr id="123" name="Encrypted vault">
            <a:extLst xmlns:a="http://schemas.openxmlformats.org/drawingml/2006/main">
              <a:ext uri="{FF2B5EF4-FFF2-40B4-BE49-F238E27FC236}">
                <a16:creationId xmlns:a16="http://schemas.microsoft.com/office/drawing/2014/main" id="{DA42C4E6-6450-4A26-9959-A46E37E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67625"/>
            <a:ext cx="3429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F5F8">
              <a:alpha val="90000"/>
            </a:srgbClr>
          </a:solidFill>
          <a:ln xmlns:a="http://schemas.openxmlformats.org/drawingml/2006/main" w="14288">
            <a:solidFill>
              <a:srgbClr val="AFC8D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Encrypted vault</a:t>
            </a:r>
          </a:p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designed</a:t>
            </a:r>
          </a:p>
        </p:txBody>
      </p:sp>
      <p:sp>
        <p:nvSpPr>
          <p:cNvPr id="124" name="Signed audit">
            <a:extLst xmlns:a="http://schemas.openxmlformats.org/drawingml/2006/main">
              <a:ext uri="{FF2B5EF4-FFF2-40B4-BE49-F238E27FC236}">
                <a16:creationId xmlns:a16="http://schemas.microsoft.com/office/drawing/2014/main" id="{1BC21E11-CE27-4EF6-8D4D-0C0009F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667625"/>
            <a:ext cx="3429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DF5F8">
              <a:alpha val="90000"/>
            </a:srgbClr>
          </a:solidFill>
          <a:ln xmlns:a="http://schemas.openxmlformats.org/drawingml/2006/main" w="14288">
            <a:solidFill>
              <a:srgbClr val="AFC8D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Signed audit</a:t>
            </a:r>
          </a:p>
          <a:p xmlns:a="http://schemas.openxmlformats.org/drawingml/2006/main">
            <a:pPr algn="ctr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local PoC</a:t>
            </a:r>
          </a:p>
        </p:txBody>
      </p:sp>
      <p:cxnSp>
        <p:nvCxnSpPr>
          <p:cNvPr id="144" name=""/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4572000" y="4819650"/>
            <a:ext cx="171450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C8D"/>
            </a:solidFill>
            <a:tailEnd type="arrow" w="med" len="med"/>
          </a:ln>
        </p:spPr>
      </p:cxnSp>
      <p:cxnSp>
        <p:nvCxnSpPr>
          <p:cNvPr id="145" name=""/>
          <p:cNvCxnSpPr>
            <a:stCxn xmlns:a="http://schemas.openxmlformats.org/drawingml/2006/main" id="121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 flipV="1">
            <a:off x="4572000" y="5543550"/>
            <a:ext cx="171450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C8D"/>
            </a:solidFill>
            <a:tailEnd type="arrow" w="med" len="med"/>
          </a:ln>
        </p:spPr>
      </p:cxnSp>
      <p:cxnSp>
        <p:nvCxnSpPr>
          <p:cNvPr id="146" name=""/>
          <p:cNvCxnSpPr>
            <a:stCxn xmlns:a="http://schemas.openxmlformats.org/drawingml/2006/main" id="120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810750" y="55435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C8D"/>
            </a:solidFill>
            <a:tailEnd type="arrow" w="med" len="med"/>
          </a:ln>
        </p:spPr>
      </p:cxnSp>
      <p:cxnSp>
        <p:nvCxnSpPr>
          <p:cNvPr id="147" name=""/>
          <p:cNvCxnSpPr>
            <a:stCxn xmlns:a="http://schemas.openxmlformats.org/drawingml/2006/main" id="123" idx="0"/>
            <a:endCxn xmlns:a="http://schemas.openxmlformats.org/drawingml/2006/main" id="120" idx="2"/>
          </p:cNvCxnSpPr>
          <p:nvPr/>
        </p:nvCxnSpPr>
        <p:spPr>
          <a:xfrm xmlns:a="http://schemas.openxmlformats.org/drawingml/2006/main" flipV="1">
            <a:off x="7429500" y="6181725"/>
            <a:ext cx="61912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C8D"/>
            </a:solidFill>
            <a:tailEnd type="arrow" w="med" len="med"/>
          </a:ln>
        </p:spPr>
      </p:cxnSp>
      <p:cxnSp>
        <p:nvCxnSpPr>
          <p:cNvPr id="148" name=""/>
          <p:cNvCxnSpPr>
            <a:stCxn xmlns:a="http://schemas.openxmlformats.org/drawingml/2006/main" id="120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8048625" y="6181725"/>
            <a:ext cx="423862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6C8D"/>
            </a:solidFill>
            <a:tailEnd type="arrow" w="med" len="med"/>
          </a:ln>
        </p:spPr>
      </p:cxnSp>
      <p:sp>
        <p:nvSpPr>
          <p:cNvPr id="130" name="Red receives pending only&#10;Final range after c">
            <a:extLst xmlns:a="http://schemas.openxmlformats.org/drawingml/2006/main">
              <a:ext uri="{FF2B5EF4-FFF2-40B4-BE49-F238E27FC236}">
                <a16:creationId xmlns:a16="http://schemas.microsoft.com/office/drawing/2014/main" id="{FAFC7EBF-B79F-4B35-8AB1-E91914ED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5337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Red receives pending only</a:t>
            </a:r>
          </a:p>
          <a:p xmlns:a="http://schemas.openxmlformats.org/drawingml/2006/main">
            <a:pPr algn="l">
              <a:def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Final range after completion</a:t>
            </a:r>
          </a:p>
        </p:txBody>
      </p:sp>
      <p:sp>
        <p:nvSpPr>
          <p:cNvPr id="131" name="Python PoC + SQLite budget + Ed25519 audit. D">
            <a:extLst xmlns:a="http://schemas.openxmlformats.org/drawingml/2006/main">
              <a:ext uri="{FF2B5EF4-FFF2-40B4-BE49-F238E27FC236}">
                <a16:creationId xmlns:a16="http://schemas.microsoft.com/office/drawing/2014/main" id="{E7903E6E-810D-4A56-95DB-76BDB410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334500"/>
            <a:ext cx="1581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rPr>
              <a:t>Python PoC + SQLite budget + Ed25519 audit. DeepSeek API for real-model evidence only.</a:t>
            </a:r>
          </a:p>
        </p:txBody>
      </p:sp>
    </p:spTree>
    <p:extLst>
      <p:ext uri="{BB962C8B-B14F-4D97-AF65-F5344CB8AC3E}">
        <p14:creationId xmlns:p14="http://schemas.microsoft.com/office/powerpoint/2010/main" val="650267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5EA1D179-6F54-44A8-AD2B-B363787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95" b="1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123" name="Google Shape;123;p17">
            <a:extLst xmlns:a="http://schemas.openxmlformats.org/drawingml/2006/main">
              <a:ext uri="{FF2B5EF4-FFF2-40B4-BE49-F238E27FC236}">
                <a16:creationId xmlns:a16="http://schemas.microsoft.com/office/drawing/2014/main" id="{2F4DAB26-002C-43A5-A536-27D590F6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27" b="0" i="0" u="none" cap="none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/>
            </a:r>
            <a:endParaRPr/>
          </a:p>
        </p:txBody>
      </p:sp>
      <p:sp>
        <p:nvSpPr>
          <p:cNvPr id="124" name="Google Shape;124;p17">
            <a:extLst xmlns:a="http://schemas.openxmlformats.org/drawingml/2006/main">
              <a:ext uri="{FF2B5EF4-FFF2-40B4-BE49-F238E27FC236}">
                <a16:creationId xmlns:a16="http://schemas.microsoft.com/office/drawing/2014/main" id="{2A9D2E39-3848-4A4D-A675-FE673FB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0" name="Google Shape;125;p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87dd087724d4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2055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MARKET RESEARCH/ANALYSIS">
            <a:extLst xmlns:a="http://schemas.openxmlformats.org/drawingml/2006/main">
              <a:ext uri="{FF2B5EF4-FFF2-40B4-BE49-F238E27FC236}">
                <a16:creationId xmlns:a16="http://schemas.microsoft.com/office/drawing/2014/main" id="{C9FE1473-0658-4E77-BAEA-95487142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MARKET RESEARCH/ANALYSIS</a:t>
            </a:r>
          </a:p>
        </p:txBody>
      </p:sp>
      <p:sp>
        <p:nvSpPr>
          <p:cNvPr id="127" name="Evaluation platforms need trustworthy safety ">
            <a:extLst xmlns:a="http://schemas.openxmlformats.org/drawingml/2006/main">
              <a:ext uri="{FF2B5EF4-FFF2-40B4-BE49-F238E27FC236}">
                <a16:creationId xmlns:a16="http://schemas.microsoft.com/office/drawing/2014/main" id="{3EDC109E-0251-43AE-ADAC-CE5A1484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600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Evaluation platforms need trustworthy safety findings</a:t>
            </a:r>
          </a:p>
        </p:txBody>
      </p:sp>
      <p:sp>
        <p:nvSpPr>
          <p:cNvPr id="128" name="Target users">
            <a:extLst xmlns:a="http://schemas.openxmlformats.org/drawingml/2006/main">
              <a:ext uri="{FF2B5EF4-FFF2-40B4-BE49-F238E27FC236}">
                <a16:creationId xmlns:a16="http://schemas.microsoft.com/office/drawing/2014/main" id="{E1C70E5B-44C2-41F7-AAD6-57BAC142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Target users</a:t>
            </a:r>
          </a:p>
        </p:txBody>
      </p:sp>
      <p:sp>
        <p:nvSpPr>
          <p:cNvPr id="129" name="AI labs, evaluation vendors, red-team provide">
            <a:extLst xmlns:a="http://schemas.openxmlformats.org/drawingml/2006/main">
              <a:ext uri="{FF2B5EF4-FFF2-40B4-BE49-F238E27FC236}">
                <a16:creationId xmlns:a16="http://schemas.microsoft.com/office/drawing/2014/main" id="{83918693-53F4-4FBD-B958-85AF6CEB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AI labs, evaluation vendors, red-team providers and enterprises validating LLMs.</a:t>
            </a:r>
          </a:p>
        </p:txBody>
      </p:sp>
      <p:sp>
        <p:nvSpPr>
          <p:cNvPr id="130" name="Market size">
            <a:extLst xmlns:a="http://schemas.openxmlformats.org/drawingml/2006/main">
              <a:ext uri="{FF2B5EF4-FFF2-40B4-BE49-F238E27FC236}">
                <a16:creationId xmlns:a16="http://schemas.microsoft.com/office/drawing/2014/main" id="{7BA263E1-1676-466A-8A16-CF6A17D4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815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Market size</a:t>
            </a:r>
          </a:p>
        </p:txBody>
      </p:sp>
      <p:sp>
        <p:nvSpPr>
          <p:cNvPr id="131" name="Not quantified in this submission. No revenue">
            <a:extLst xmlns:a="http://schemas.openxmlformats.org/drawingml/2006/main">
              <a:ext uri="{FF2B5EF4-FFF2-40B4-BE49-F238E27FC236}">
                <a16:creationId xmlns:a16="http://schemas.microsoft.com/office/drawing/2014/main" id="{122F02A6-66FB-4BF6-9275-9F01791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Not quantified in this submission. No revenue or growth estimates claimed.</a:t>
            </a:r>
          </a:p>
        </p:txBody>
      </p:sp>
      <p:sp>
        <p:nvSpPr>
          <p:cNvPr id="132" name="Revenue hypothesis">
            <a:extLst xmlns:a="http://schemas.openxmlformats.org/drawingml/2006/main">
              <a:ext uri="{FF2B5EF4-FFF2-40B4-BE49-F238E27FC236}">
                <a16:creationId xmlns:a16="http://schemas.microsoft.com/office/drawing/2014/main" id="{6617C057-DFB8-4E7E-969C-41082616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0552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Revenue hypothesis</a:t>
            </a:r>
          </a:p>
        </p:txBody>
      </p:sp>
      <p:sp>
        <p:nvSpPr>
          <p:cNvPr id="133" name="A SaaS or self-hosted isolation layer for eva">
            <a:extLst xmlns:a="http://schemas.openxmlformats.org/drawingml/2006/main">
              <a:ext uri="{FF2B5EF4-FFF2-40B4-BE49-F238E27FC236}">
                <a16:creationId xmlns:a16="http://schemas.microsoft.com/office/drawing/2014/main" id="{41FC2DC1-16F1-4DBD-B734-F4DC8FE5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52462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A SaaS or self-hosted isolation layer for evaluation platforms.</a:t>
            </a:r>
          </a:p>
        </p:txBody>
      </p:sp>
      <p:sp>
        <p:nvSpPr>
          <p:cNvPr id="134" name="Demand hypothesis">
            <a:extLst xmlns:a="http://schemas.openxmlformats.org/drawingml/2006/main">
              <a:ext uri="{FF2B5EF4-FFF2-40B4-BE49-F238E27FC236}">
                <a16:creationId xmlns:a16="http://schemas.microsoft.com/office/drawing/2014/main" id="{200D556D-D12F-48A3-90B3-881D8523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294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Demand hypothesis</a:t>
            </a:r>
          </a:p>
        </p:txBody>
      </p:sp>
      <p:sp>
        <p:nvSpPr>
          <p:cNvPr id="135" name="Adoption depends on external evaluation needs">
            <a:extLst xmlns:a="http://schemas.openxmlformats.org/drawingml/2006/main">
              <a:ext uri="{FF2B5EF4-FFF2-40B4-BE49-F238E27FC236}">
                <a16:creationId xmlns:a16="http://schemas.microsoft.com/office/drawing/2014/main" id="{68FE1CF6-76EC-435B-9C2B-971747E8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485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Adoption depends on external evaluation needs and willingness to pay for defensible evidence.</a:t>
            </a:r>
          </a:p>
        </p:txBody>
      </p:sp>
      <p:sp>
        <p:nvSpPr>
          <p:cNvPr id="136" name="Next validation: customer interviews, deploym">
            <a:extLst xmlns:a="http://schemas.openxmlformats.org/drawingml/2006/main">
              <a:ext uri="{FF2B5EF4-FFF2-40B4-BE49-F238E27FC236}">
                <a16:creationId xmlns:a16="http://schemas.microsoft.com/office/drawing/2014/main" id="{FCE98816-B27C-4440-82BD-4A4D68DC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0"/>
            <a:ext cx="1581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rPr>
              <a:t>Next validation: customer interviews, deployment constraints and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17968975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84C2F233-D7F1-47AD-82D9-A24DD8C9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95" b="1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132" name="Google Shape;132;p18">
            <a:extLst xmlns:a="http://schemas.openxmlformats.org/drawingml/2006/main">
              <a:ext uri="{FF2B5EF4-FFF2-40B4-BE49-F238E27FC236}">
                <a16:creationId xmlns:a16="http://schemas.microsoft.com/office/drawing/2014/main" id="{BB0CA038-5A31-4E65-B1E0-E6142E77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01160" marR="0" lvl="1" indent="-30058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784"/>
              <a:buFont typeface="Arial"/>
              <a:buChar char="•"/>
            </a:pPr>
            <a:r>
              <a:rPr sz="2784" b="0" i="0" u="none" cap="none">
                <a:solidFill>
                  <a:srgbClr val="1D1D1F"/>
                </a:solidFill>
                <a:latin typeface="IBM Plex Sans"/>
                <a:ea typeface="IBM Plex Sans"/>
                <a:cs typeface="IBM Plex Sans"/>
              </a:rPr>
              <a:t/>
            </a:r>
            <a:endParaRPr/>
          </a:p>
        </p:txBody>
      </p:sp>
      <p:sp>
        <p:nvSpPr>
          <p:cNvPr id="133" name="Google Shape;133;p18">
            <a:extLst xmlns:a="http://schemas.openxmlformats.org/drawingml/2006/main">
              <a:ext uri="{FF2B5EF4-FFF2-40B4-BE49-F238E27FC236}">
                <a16:creationId xmlns:a16="http://schemas.microsoft.com/office/drawing/2014/main" id="{64D34F06-B8A6-4A4B-A6E0-54ED69E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1" name="Google Shape;134;p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aa6fbe7cb41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2055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FUTURE SCOPE">
            <a:extLst xmlns:a="http://schemas.openxmlformats.org/drawingml/2006/main">
              <a:ext uri="{FF2B5EF4-FFF2-40B4-BE49-F238E27FC236}">
                <a16:creationId xmlns:a16="http://schemas.microsoft.com/office/drawing/2014/main" id="{64A82F47-08B4-489F-B3F9-17B8265C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FUTURE SCOPE</a:t>
            </a:r>
          </a:p>
        </p:txBody>
      </p:sp>
      <p:sp>
        <p:nvSpPr>
          <p:cNvPr id="136" name="Deployment work and measured residual risks">
            <a:extLst xmlns:a="http://schemas.openxmlformats.org/drawingml/2006/main">
              <a:ext uri="{FF2B5EF4-FFF2-40B4-BE49-F238E27FC236}">
                <a16:creationId xmlns:a16="http://schemas.microsoft.com/office/drawing/2014/main" id="{62889917-05A3-4ED1-B10F-3B41121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1571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300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Deployment work and measured residual risks</a:t>
            </a:r>
          </a:p>
        </p:txBody>
      </p:sp>
      <p:sp>
        <p:nvSpPr>
          <p:cNvPr id="137" name="Live gateway">
            <a:extLst xmlns:a="http://schemas.openxmlformats.org/drawingml/2006/main">
              <a:ext uri="{FF2B5EF4-FFF2-40B4-BE49-F238E27FC236}">
                <a16:creationId xmlns:a16="http://schemas.microsoft.com/office/drawing/2014/main" id="{8E787391-4FF3-4335-99E6-FDADC516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Live gateway</a:t>
            </a:r>
          </a:p>
        </p:txBody>
      </p:sp>
      <p:sp>
        <p:nvSpPr>
          <p:cNvPr id="138" name="Verify first-byte timing, fixed response shap">
            <a:extLst xmlns:a="http://schemas.openxmlformats.org/drawingml/2006/main">
              <a:ext uri="{FF2B5EF4-FFF2-40B4-BE49-F238E27FC236}">
                <a16:creationId xmlns:a16="http://schemas.microsoft.com/office/drawing/2014/main" id="{7C64F099-9302-4FA5-A2D6-B5B49B76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Verify first-byte timing, fixed response shape and end-of-run reporting over HTTP.</a:t>
            </a:r>
          </a:p>
        </p:txBody>
      </p:sp>
      <p:sp>
        <p:nvSpPr>
          <p:cNvPr id="139" name="Timing controls">
            <a:extLst xmlns:a="http://schemas.openxmlformats.org/drawingml/2006/main">
              <a:ext uri="{FF2B5EF4-FFF2-40B4-BE49-F238E27FC236}">
                <a16:creationId xmlns:a16="http://schemas.microsoft.com/office/drawing/2014/main" id="{706D3F2E-8131-4652-8950-EC9D9058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529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Timing controls</a:t>
            </a:r>
          </a:p>
        </p:txBody>
      </p:sp>
      <p:sp>
        <p:nvSpPr>
          <p:cNvPr id="140" name="Implement the simulated 9s deadline in a live">
            <a:extLst xmlns:a="http://schemas.openxmlformats.org/drawingml/2006/main">
              <a:ext uri="{FF2B5EF4-FFF2-40B4-BE49-F238E27FC236}">
                <a16:creationId xmlns:a16="http://schemas.microsoft.com/office/drawing/2014/main" id="{554A0AB0-D856-426E-BBCB-DF1BDEA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Implement the simulated 9s deadline in a live gateway. Boundary leakage remains.</a:t>
            </a:r>
          </a:p>
        </p:txBody>
      </p:sp>
      <p:sp>
        <p:nvSpPr>
          <p:cNvPr id="141" name="Real cache isolation">
            <a:extLst xmlns:a="http://schemas.openxmlformats.org/drawingml/2006/main">
              <a:ext uri="{FF2B5EF4-FFF2-40B4-BE49-F238E27FC236}">
                <a16:creationId xmlns:a16="http://schemas.microsoft.com/office/drawing/2014/main" id="{827F1F3E-9F95-405D-B230-25EDC57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35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Real cache isolation</a:t>
            </a:r>
          </a:p>
        </p:txBody>
      </p:sp>
      <p:sp>
        <p:nvSpPr>
          <p:cNvPr id="142" name="Use protected role/run namespaces on vLLM. Ho">
            <a:extLst xmlns:a="http://schemas.openxmlformats.org/drawingml/2006/main">
              <a:ext uri="{FF2B5EF4-FFF2-40B4-BE49-F238E27FC236}">
                <a16:creationId xmlns:a16="http://schemas.microsoft.com/office/drawing/2014/main" id="{3223FAB8-73D9-44EF-97CB-12A4E398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626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Use protected role/run namespaces on vLLM. Hosted DeepSeek KV reset is unavailable to this client.</a:t>
            </a:r>
          </a:p>
        </p:txBody>
      </p:sp>
      <p:sp>
        <p:nvSpPr>
          <p:cNvPr id="143" name="Independent audit">
            <a:extLst xmlns:a="http://schemas.openxmlformats.org/drawingml/2006/main">
              <a:ext uri="{FF2B5EF4-FFF2-40B4-BE49-F238E27FC236}">
                <a16:creationId xmlns:a16="http://schemas.microsoft.com/office/drawing/2014/main" id="{45BCDB80-1B7F-4223-AA0D-40E6C0A6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341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Independent audit</a:t>
            </a:r>
          </a:p>
        </p:txBody>
      </p:sp>
      <p:sp>
        <p:nvSpPr>
          <p:cNvPr id="144" name="Pin signed checkpoints outside the gateway. R">
            <a:extLst xmlns:a="http://schemas.openxmlformats.org/drawingml/2006/main">
              <a:ext uri="{FF2B5EF4-FFF2-40B4-BE49-F238E27FC236}">
                <a16:creationId xmlns:a16="http://schemas.microsoft.com/office/drawing/2014/main" id="{6072D4B0-B33C-4D61-8D7E-56202859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1532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Pin signed checkpoints outside the gateway. Recorded integrity cannot prove every event was logged.</a:t>
            </a:r>
          </a:p>
        </p:txBody>
      </p:sp>
      <p:sp>
        <p:nvSpPr>
          <p:cNvPr id="145" name="Runtime isolation">
            <a:extLst xmlns:a="http://schemas.openxmlformats.org/drawingml/2006/main">
              <a:ext uri="{FF2B5EF4-FFF2-40B4-BE49-F238E27FC236}">
                <a16:creationId xmlns:a16="http://schemas.microsoft.com/office/drawing/2014/main" id="{2C149FC0-DB22-4B17-9729-21CD6D3C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724775"/>
            <a:ext cx="1571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Runtime isolation</a:t>
            </a:r>
          </a:p>
        </p:txBody>
      </p:sp>
      <p:sp>
        <p:nvSpPr>
          <p:cNvPr id="146" name="Add workload identity and container hardening">
            <a:extLst xmlns:a="http://schemas.openxmlformats.org/drawingml/2006/main">
              <a:ext uri="{FF2B5EF4-FFF2-40B4-BE49-F238E27FC236}">
                <a16:creationId xmlns:a16="http://schemas.microsoft.com/office/drawing/2014/main" id="{AFCC5CC2-064A-4C85-BED6-C2A3C543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43875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10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Add workload identity and container hardening. Shared hardware remains in the threat model.</a:t>
            </a:r>
          </a:p>
        </p:txBody>
      </p:sp>
      <p:sp>
        <p:nvSpPr>
          <p:cNvPr id="147" name="Narrow random ranges still distinguish extrem">
            <a:extLst xmlns:a="http://schemas.openxmlformats.org/drawingml/2006/main">
              <a:ext uri="{FF2B5EF4-FFF2-40B4-BE49-F238E27FC236}">
                <a16:creationId xmlns:a16="http://schemas.microsoft.com/office/drawing/2014/main" id="{61FF37AE-97B4-46C5-8BA7-46E7E5C9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144000"/>
            <a:ext cx="1581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rPr>
              <a:t>Narrow random ranges still distinguish extreme counts. Identity and run budgets limit repeat probing.</a:t>
            </a:r>
          </a:p>
        </p:txBody>
      </p:sp>
    </p:spTree>
    <p:extLst>
      <p:ext uri="{BB962C8B-B14F-4D97-AF65-F5344CB8AC3E}">
        <p14:creationId xmlns:p14="http://schemas.microsoft.com/office/powerpoint/2010/main" val="6224327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19">
            <a:extLst xmlns:a="http://schemas.openxmlformats.org/drawingml/2006/main">
              <a:ext uri="{FF2B5EF4-FFF2-40B4-BE49-F238E27FC236}">
                <a16:creationId xmlns:a16="http://schemas.microsoft.com/office/drawing/2014/main" id="{3E4A72BE-6632-41FC-A70B-012CD24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95" b="1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/>
            </a:r>
            <a:endParaRPr/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FF30F500-C165-4A95-9561-A954C878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52A8A62C-ECAF-4A95-9162-BBA6B1CB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000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85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7" name="Google Shape;143;p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8e43e803642f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2055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4" name="EXTRA(OPTIONAL)">
            <a:extLst xmlns:a="http://schemas.openxmlformats.org/drawingml/2006/main">
              <a:ext uri="{FF2B5EF4-FFF2-40B4-BE49-F238E27FC236}">
                <a16:creationId xmlns:a16="http://schemas.microsoft.com/office/drawing/2014/main" id="{4617C39E-C947-47FD-9AF8-D4BC30FC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600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1D1D1F"/>
                </a:solidFill>
                <a:latin typeface="Montserrat"/>
                <a:ea typeface="Montserrat"/>
                <a:cs typeface="Montserrat"/>
              </a:rPr>
              <a:t>EXTRA(OPTIONAL)</a:t>
            </a:r>
          </a:p>
        </p:txBody>
      </p:sp>
      <p:sp>
        <p:nvSpPr>
          <p:cNvPr id="145" name="Evidence &amp; limitations">
            <a:extLst xmlns:a="http://schemas.openxmlformats.org/drawingml/2006/main">
              <a:ext uri="{FF2B5EF4-FFF2-40B4-BE49-F238E27FC236}">
                <a16:creationId xmlns:a16="http://schemas.microsoft.com/office/drawing/2014/main" id="{756C9979-40AC-4504-8E8E-55DD437A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D6C8D"/>
                </a:solidFill>
                <a:latin typeface="Montserrat"/>
                <a:ea typeface="Montserrat"/>
                <a:cs typeface="Montserrat"/>
              </a:defRPr>
            </a:pPr>
            <a:r>
              <a:rPr sz="3300" b="1">
                <a:solidFill>
                  <a:srgbClr val="2D6C8D"/>
                </a:solidFill>
                <a:latin typeface="Montserrat"/>
                <a:ea typeface="Montserrat"/>
                <a:cs typeface="Montserrat"/>
              </a:rPr>
              <a:t>Evidence &amp; limitations</a:t>
            </a:r>
          </a:p>
        </p:txBody>
      </p:sp>
      <p:sp>
        <p:nvSpPr>
          <p:cNvPr id="146" name="Simulated: 200 unseen runs per case">
            <a:extLst xmlns:a="http://schemas.openxmlformats.org/drawingml/2006/main">
              <a:ext uri="{FF2B5EF4-FFF2-40B4-BE49-F238E27FC236}">
                <a16:creationId xmlns:a16="http://schemas.microsoft.com/office/drawing/2014/main" id="{E1F29CD0-8FF9-4270-9921-BC3BF21B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17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Simulated: 200 unseen runs per case</a:t>
            </a:r>
          </a:p>
        </p:txBody>
      </p:sp>
      <p:graphicFrame>
        <p:nvGraphicFramePr>
          <p:cNvPr id="161" name="Chart"/>
          <p:cNvGraphicFramePr/>
          <p:nvPr/>
        </p:nvGraphicFramePr>
        <p:xfrm>
          <a:off xmlns:a="http://schemas.openxmlformats.org/drawingml/2006/main" x="1143000" y="3524250"/>
          <a:ext xmlns:a="http://schemas.openxmlformats.org/drawingml/2006/main" cx="809625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ad2b32f9c94bb0"/>
          </a:graphicData>
        </a:graphic>
      </p:graphicFrame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8e4e9e08c455d"/>
          <a:stretch xmlns:a="http://schemas.openxmlformats.org/drawingml/2006/main"/>
        </p:blipFill>
        <p:spPr>
          <a:xfrm xmlns:a="http://schemas.openxmlformats.org/drawingml/2006/main">
            <a:off x="9620250" y="3381375"/>
            <a:ext cx="7620000" cy="3048000"/>
          </a:xfrm>
          <a:prstGeom xmlns:a="http://schemas.openxmlformats.org/drawingml/2006/main" prst="rect">
            <a:avLst/>
          </a:prstGeom>
        </p:spPr>
      </p:pic>
      <p:sp>
        <p:nvSpPr>
          <p:cNvPr id="149" name="Real model run, small sample (DeepSeek), n=15">
            <a:extLst xmlns:a="http://schemas.openxmlformats.org/drawingml/2006/main">
              <a:ext uri="{FF2B5EF4-FFF2-40B4-BE49-F238E27FC236}">
                <a16:creationId xmlns:a16="http://schemas.microsoft.com/office/drawing/2014/main" id="{EAEDC220-4392-4A1F-98F5-28FEDDC7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051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Real model run, small sample (DeepSeek), n=150</a:t>
            </a:r>
          </a:p>
        </p:txBody>
      </p:sp>
      <p:sp>
        <p:nvSpPr>
          <p:cNvPr id="150" name="p50 / p95 / p99: 1.18s / 1.64s / 2.12s&#10;149 at">
            <a:extLst xmlns:a="http://schemas.openxmlformats.org/drawingml/2006/main">
              <a:ext uri="{FF2B5EF4-FFF2-40B4-BE49-F238E27FC236}">
                <a16:creationId xmlns:a16="http://schemas.microsoft.com/office/drawing/2014/main" id="{185C7E4A-3670-49CA-B257-E9D8254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p50 / p95 / p99: 1.18s / 1.64s / 2.12s</a:t>
            </a:r>
          </a:p>
          <a:p xmlns:a="http://schemas.openxmlformats.org/drawingml/2006/main">
            <a:pPr algn="l">
              <a:def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2025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149 at 3s, 1 at 6s. Overrun 0.7%. Padding +1.82s.</a:t>
            </a:r>
          </a:p>
        </p:txBody>
      </p:sp>
      <p:sp>
        <p:nvSpPr>
          <p:cNvPr id="151" name="Simulated overflow: 100% actual time vs 50% h">
            <a:extLst xmlns:a="http://schemas.openxmlformats.org/drawingml/2006/main">
              <a:ext uri="{FF2B5EF4-FFF2-40B4-BE49-F238E27FC236}">
                <a16:creationId xmlns:a16="http://schemas.microsoft.com/office/drawing/2014/main" id="{109C038D-EFF7-4C35-9C1C-9A96124D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008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Simulated overflow: 100% actual time vs 50% hard timeout.</a:t>
            </a:r>
          </a:p>
          <a:p xmlns:a="http://schemas.openxmlformats.org/drawingml/2006/main">
            <a:pPr algn="l">
              <a:def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defRPr>
            </a:pPr>
            <a:r>
              <a:rPr sz="1950" b="0">
                <a:solidFill>
                  <a:srgbClr val="536774"/>
                </a:solidFill>
                <a:latin typeface="IBM Plex Sans"/>
                <a:ea typeface="IBM Plex Sans"/>
                <a:cs typeface="IBM Plex Sans"/>
              </a:rPr>
              <a:t>200 unseen runs. 100% timeout rate. Boundary risk remains.</a:t>
            </a:r>
          </a:p>
        </p:txBody>
      </p:sp>
      <p:graphicFrame>
        <p:nvGraphicFramePr>
          <p:cNvPr id="166" name=""/>
          <p:cNvGraphicFramePr/>
          <p:nvPr/>
        </p:nvGraphicFramePr>
        <p:xfrm>
          <a:off xmlns:a="http://schemas.openxmlformats.org/drawingml/2006/main" x="1143000" y="7239000"/>
          <a:ext xmlns:a="http://schemas.openxmlformats.org/drawingml/2006/main" cx="1609725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48625"/>
                <a:gridCol w="8048625"/>
              </a:tblGrid>
              <a:tr h="51196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Tested</a:t>
                      </a:r>
                    </a:p>
                  </a:txBody>
                  <a:tcPr marL="91440" marR="91440" marT="45720" marB="45720">
                    <a:solidFill>
                      <a:srgbClr val="E3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Designed / deployment work</a:t>
                      </a:r>
                    </a:p>
                  </a:txBody>
                  <a:tcPr marL="91440" marR="91440" marT="45720" marB="45720">
                    <a:solidFill>
                      <a:srgbClr val="E3EEF4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Simulated timing, pending envelope and range budget</a:t>
                      </a:r>
                    </a:p>
                  </a:txBody>
                  <a:tcPr marL="91440" marR="91440" marT="45720" marB="45720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Encrypted vault and workload authentication</a:t>
                      </a:r>
                    </a:p>
                  </a:txBody>
                  <a:tcPr marL="91440" marR="91440" marT="45720" marB="45720">
                    <a:solidFill>
                      <a:srgbClr val="F6F9F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Real DeepSeek latency n=150, extraction n=20, small sample</a:t>
                      </a:r>
                    </a:p>
                  </a:txBody>
                  <a:tcPr marL="91440" marR="91440" marT="45720" marB="45720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Live HTTP gateway and real KV controls</a:t>
                      </a:r>
                    </a:p>
                  </a:txBody>
                  <a:tcPr marL="91440" marR="91440" marT="45720" marB="45720">
                    <a:solidFill>
                      <a:srgbClr val="F6F9FB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Local audit: edit, tail delete, reorder, count change</a:t>
                      </a:r>
                    </a:p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 local tests passed</a:t>
                      </a:r>
                    </a:p>
                  </a:txBody>
                  <a:tcPr marL="91440" marR="91440" marT="45720" marB="45720"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8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Independent audit witness and host isolation</a:t>
                      </a:r>
                    </a:p>
                  </a:txBody>
                  <a:tcPr marL="91440" marR="91440" marT="45720" marB="45720"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153" name="Current buckets retain boundary/overflow risk">
            <a:extLst xmlns:a="http://schemas.openxmlformats.org/drawingml/2006/main">
              <a:ext uri="{FF2B5EF4-FFF2-40B4-BE49-F238E27FC236}">
                <a16:creationId xmlns:a16="http://schemas.microsoft.com/office/drawing/2014/main" id="{35843B92-C71D-472C-BCA4-D24F2D72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696450"/>
            <a:ext cx="1600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1875" b="1">
                <a:solidFill>
                  <a:srgbClr val="2D6C8D"/>
                </a:solidFill>
                <a:latin typeface="IBM Plex Sans"/>
                <a:ea typeface="IBM Plex Sans"/>
                <a:cs typeface="IBM Plex Sans"/>
              </a:rPr>
              <a:t>Current buckets retain boundary/overflow risk. Simulated hard timeout hides overflow timing at full timeout cost.</a:t>
            </a:r>
          </a:p>
        </p:txBody>
      </p:sp>
    </p:spTree>
    <p:extLst>
      <p:ext uri="{BB962C8B-B14F-4D97-AF65-F5344CB8AC3E}">
        <p14:creationId xmlns:p14="http://schemas.microsoft.com/office/powerpoint/2010/main" val="9519492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0">
            <a:extLst xmlns:a="http://schemas.openxmlformats.org/drawingml/2006/main">
              <a:ext uri="{FF2B5EF4-FFF2-40B4-BE49-F238E27FC236}">
                <a16:creationId xmlns:a16="http://schemas.microsoft.com/office/drawing/2014/main" id="{5B1CDD76-E8A7-42C8-8D55-DCA82641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7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20">
            <a:extLst xmlns:a="http://schemas.openxmlformats.org/drawingml/2006/main">
              <a:ext uri="{FF2B5EF4-FFF2-40B4-BE49-F238E27FC236}">
                <a16:creationId xmlns:a16="http://schemas.microsoft.com/office/drawing/2014/main" id="{3DFB37C0-6D37-4223-A159-7DC4A371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76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20">
            <a:extLst xmlns:a="http://schemas.openxmlformats.org/drawingml/2006/main">
              <a:ext uri="{FF2B5EF4-FFF2-40B4-BE49-F238E27FC236}">
                <a16:creationId xmlns:a16="http://schemas.microsoft.com/office/drawing/2014/main" id="{E3807E5D-38AC-4D9D-BA10-23C2071B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40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20">
            <a:extLst xmlns:a="http://schemas.openxmlformats.org/drawingml/2006/main">
              <a:ext uri="{FF2B5EF4-FFF2-40B4-BE49-F238E27FC236}">
                <a16:creationId xmlns:a16="http://schemas.microsoft.com/office/drawing/2014/main" id="{C4E9450D-80D5-46BE-8992-636C7C41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701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20">
            <a:extLst xmlns:a="http://schemas.openxmlformats.org/drawingml/2006/main">
              <a:ext uri="{FF2B5EF4-FFF2-40B4-BE49-F238E27FC236}">
                <a16:creationId xmlns:a16="http://schemas.microsoft.com/office/drawing/2014/main" id="{D9057EFB-F5E6-4331-B117-90DE056E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48051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5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88" i="0" u="none" cap="none">
                <a:solidFill>
                  <a:srgbClr val="1D1D1F"/>
                </a:solidFill>
                <a:latin typeface="Caveat"/>
                <a:ea typeface="Caveat"/>
                <a:cs typeface="Caveat"/>
              </a:rPr>
              <a:t/>
            </a:r>
            <a:endParaRPr>
              <a:latin typeface="Caveat"/>
              <a:ea typeface="Caveat"/>
              <a:cs typeface="Caveat"/>
            </a:endParaRPr>
          </a:p>
        </p:txBody>
      </p:sp>
      <p:sp>
        <p:nvSpPr>
          <p:cNvPr id="156" name="Google Shape;156;p20">
            <a:extLst xmlns:a="http://schemas.openxmlformats.org/drawingml/2006/main">
              <a:ext uri="{FF2B5EF4-FFF2-40B4-BE49-F238E27FC236}">
                <a16:creationId xmlns:a16="http://schemas.microsoft.com/office/drawing/2014/main" id="{1C72ADF0-D5DD-4E7D-8F4E-F352F155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48577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167" i="0" u="none" cap="none">
                <a:solidFill>
                  <a:srgbClr val="1D1D1F"/>
                </a:solidFill>
                <a:latin typeface="Caveat"/>
                <a:ea typeface="Caveat"/>
                <a:cs typeface="Caveat"/>
              </a:rPr>
              <a:t/>
            </a:r>
            <a:endParaRPr>
              <a:latin typeface="Caveat"/>
              <a:ea typeface="Caveat"/>
              <a:cs typeface="Caveat"/>
            </a:endParaRPr>
          </a:p>
        </p:txBody>
      </p:sp>
      <p:pic>
        <p:nvPicPr>
          <p:cNvPr id="171" name="Google Shape;15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051606e394420d">
            <a:alphaModFix/>
          </a:blip>
          <a:srcRect xmlns:a="http://schemas.openxmlformats.org/drawingml/2006/main" l="38928" t="0" r="16455" b="0"/>
          <a:stretch xmlns:a="http://schemas.openxmlformats.org/drawingml/2006/main"/>
        </p:blipFill>
        <p:spPr>
          <a:xfrm xmlns:a="http://schemas.openxmlformats.org/drawingml/2006/main" rot="-5400000">
            <a:off x="7123100" y="-7111200"/>
            <a:ext cx="4088375" cy="18326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5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68ac37e714c6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675" y="296224"/>
            <a:ext cx="7240346" cy="791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3" name="Google Shape;15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7052dfb8e497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0575" y="296231"/>
            <a:ext cx="5599601" cy="791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0" name="Thank you!">
            <a:extLst xmlns:a="http://schemas.openxmlformats.org/drawingml/2006/main">
              <a:ext uri="{FF2B5EF4-FFF2-40B4-BE49-F238E27FC236}">
                <a16:creationId xmlns:a16="http://schemas.microsoft.com/office/drawing/2014/main" id="{D9B2D1E9-644E-4F86-B8B7-D590CB4F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1590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173548"/>
                </a:solidFill>
                <a:latin typeface="Montserrat"/>
                <a:ea typeface="Montserrat"/>
                <a:cs typeface="Montserrat"/>
              </a:defRPr>
            </a:pPr>
            <a:r>
              <a:rPr sz="6750" b="1">
                <a:solidFill>
                  <a:srgbClr val="173548"/>
                </a:solidFill>
                <a:latin typeface="Montserrat"/>
                <a:ea typeface="Montserrat"/>
                <a:cs typeface="Montserrat"/>
              </a:rPr>
              <a:t>Thank you!</a:t>
            </a:r>
          </a:p>
        </p:txBody>
      </p:sp>
      <p:sp>
        <p:nvSpPr>
          <p:cNvPr id="161" name="Working PoC and saved evidence">
            <a:extLst xmlns:a="http://schemas.openxmlformats.org/drawingml/2006/main">
              <a:ext uri="{FF2B5EF4-FFF2-40B4-BE49-F238E27FC236}">
                <a16:creationId xmlns:a16="http://schemas.microsoft.com/office/drawing/2014/main" id="{29CF5726-D09A-4CA8-8D21-9EC7E9F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67500"/>
            <a:ext cx="1562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700" b="1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Working PoC and saved evidence</a:t>
            </a:r>
          </a:p>
        </p:txBody>
      </p:sp>
      <p:sp>
        <p:nvSpPr>
          <p:cNvPr id="162" name="https://github.com/MdTabish24/hide-normalize-">
            <a:extLst xmlns:a="http://schemas.openxmlformats.org/drawingml/2006/main">
              <a:ext uri="{FF2B5EF4-FFF2-40B4-BE49-F238E27FC236}">
                <a16:creationId xmlns:a16="http://schemas.microsoft.com/office/drawing/2014/main" id="{F0B282CC-D19C-4853-88FF-56F004BE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34250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D6C8D"/>
                </a:solidFill>
                <a:latin typeface="IBM Plex Sans"/>
                <a:ea typeface="IBM Plex Sans"/>
                <a:cs typeface="IBM Plex Sans"/>
              </a:defRPr>
            </a:pPr>
            <a:r>
              <a:rPr sz="2550" b="0">
                <a:solidFill>
                  <a:srgbClr val="2D6C8D"/>
                </a:solidFill>
                <a:latin typeface="IBM Plex Sans"/>
                <a:ea typeface="IBM Plex Sans"/>
                <a:cs typeface="IBM Plex Sans"/>
                <a:hlinkClick xmlns:r="http://schemas.openxmlformats.org/officeDocument/2006/relationships" r:id="R8564e9fc24db4ca2"/>
              </a:rPr>
              <a:t>https://github.com/MdTabish24/hide-normalize-prove</a:t>
            </a:r>
          </a:p>
        </p:txBody>
      </p:sp>
      <p:sp>
        <p:nvSpPr>
          <p:cNvPr id="163" name="Local demo: python experiment.py">
            <a:extLst xmlns:a="http://schemas.openxmlformats.org/drawingml/2006/main">
              <a:ext uri="{FF2B5EF4-FFF2-40B4-BE49-F238E27FC236}">
                <a16:creationId xmlns:a16="http://schemas.microsoft.com/office/drawing/2014/main" id="{0D252CD7-9C0D-4FFF-B3F7-04EBA6D1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43875"/>
            <a:ext cx="1562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Local demo: python experiment.py</a:t>
            </a:r>
          </a:p>
        </p:txBody>
      </p:sp>
      <p:sp>
        <p:nvSpPr>
          <p:cNvPr id="164" name="Audit: python verify_audit.py --log demo_audi">
            <a:extLst xmlns:a="http://schemas.openxmlformats.org/drawingml/2006/main">
              <a:ext uri="{FF2B5EF4-FFF2-40B4-BE49-F238E27FC236}">
                <a16:creationId xmlns:a16="http://schemas.microsoft.com/office/drawing/2014/main" id="{6EBA67CF-3473-4E3F-8218-1563DAA4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15375"/>
            <a:ext cx="1562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defRPr>
            </a:pPr>
            <a:r>
              <a:rPr sz="2250" b="0">
                <a:solidFill>
                  <a:srgbClr val="173548"/>
                </a:solidFill>
                <a:latin typeface="IBM Plex Sans"/>
                <a:ea typeface="IBM Plex Sans"/>
                <a:cs typeface="IBM Plex Sans"/>
              </a:rPr>
              <a:t>Audit: python verify_audit.py --log demo_audit/edited.jsonl</a:t>
            </a:r>
          </a:p>
        </p:txBody>
      </p:sp>
    </p:spTree>
    <p:extLst>
      <p:ext uri="{BB962C8B-B14F-4D97-AF65-F5344CB8AC3E}">
        <p14:creationId xmlns:p14="http://schemas.microsoft.com/office/powerpoint/2010/main" val="17046317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2026-10-03T19:06:58.9030000Z</dcterms:created>
  <dcterms:modified xsi:type="dcterms:W3CDTF">2026-10-03T19:06:58.9030000Z</dcterms:modified>
</coreProperties>
</file>